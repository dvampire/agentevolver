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Preserves the original architecture's spatial organization: task/orchestrator at top, actors at left, runtime and protocol in the center, capability ecosystem beneath, self-evolution cycle and version management at right, external world on the far right, supporting infrastructure at bottom. Source map: docs/diagrams/README.md. Protocol labels describe runtime message contracts, not a separate protocol package. Builder is an alternative root role; actor delegation is optional. Evolution is performed by the acting Agent with self_evolving_skill and adoption_tool, not mandatory generator/evaluator agents. Use after keep verifies the consumer; rollback returns to investigation instead. All shapes and icons are native editable PowerPoint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自进化 Agent System 架构图"/>
          <p:cNvSpPr txBox="1"/>
          <p:nvPr/>
        </p:nvSpPr>
        <p:spPr>
          <a:xfrm>
            <a:off x="457200" y="201168"/>
            <a:ext cx="21031200" cy="5486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32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自进化 Agent System 架构图</a:t>
            </a:r>
          </a:p>
        </p:txBody>
      </p:sp>
      <p:sp>
        <p:nvSpPr>
          <p:cNvPr id="3" name="协议通信  ·  能力生态  ·  自进化闭环"/>
          <p:cNvSpPr txBox="1"/>
          <p:nvPr/>
        </p:nvSpPr>
        <p:spPr>
          <a:xfrm>
            <a:off x="457200" y="859536"/>
            <a:ext cx="2103120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60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协议通信  ·  能力生态  ·  自进化闭环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53312"/>
            <a:ext cx="1645920" cy="932688"/>
          </a:xfrm>
          <a:prstGeom prst="roundRect">
            <a:avLst>
              <a:gd name="adj" fmla="val 10000"/>
            </a:avLst>
          </a:prstGeom>
          <a:solidFill>
            <a:srgbClr val="0C1D26"/>
          </a:solidFill>
          <a:ln w="1270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6158" y="1581546"/>
            <a:ext cx="140451" cy="14045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23986" y="1866839"/>
            <a:ext cx="0" cy="12728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23986" y="1787834"/>
            <a:ext cx="65837" cy="7900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9823" y="1787834"/>
            <a:ext cx="193121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2944" y="1787834"/>
            <a:ext cx="65837" cy="7900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8781" y="1866839"/>
            <a:ext cx="0" cy="12728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用户"/>
          <p:cNvSpPr txBox="1"/>
          <p:nvPr/>
        </p:nvSpPr>
        <p:spPr>
          <a:xfrm>
            <a:off x="1097280" y="1673352"/>
            <a:ext cx="8229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7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353312"/>
            <a:ext cx="2441448" cy="932688"/>
          </a:xfrm>
          <a:prstGeom prst="roundRect">
            <a:avLst>
              <a:gd name="adj" fmla="val 10000"/>
            </a:avLst>
          </a:prstGeom>
          <a:solidFill>
            <a:srgbClr val="0C1D26"/>
          </a:solidFill>
          <a:ln w="1270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5247" y="1567647"/>
            <a:ext cx="298460" cy="408188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902305" y="1677375"/>
            <a:ext cx="17556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02305" y="1765157"/>
            <a:ext cx="17556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02305" y="1852940"/>
            <a:ext cx="13606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务输入"/>
          <p:cNvSpPr txBox="1"/>
          <p:nvPr/>
        </p:nvSpPr>
        <p:spPr>
          <a:xfrm>
            <a:off x="3328416" y="1536192"/>
            <a:ext cx="160020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7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任务输入</a:t>
            </a:r>
          </a:p>
        </p:txBody>
      </p:sp>
      <p:sp>
        <p:nvSpPr>
          <p:cNvPr id="18" name="正文 · 附件 · manifest"/>
          <p:cNvSpPr txBox="1"/>
          <p:nvPr/>
        </p:nvSpPr>
        <p:spPr>
          <a:xfrm>
            <a:off x="3328416" y="1947672"/>
            <a:ext cx="15727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95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正文 · 附件 · manifest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1819656"/>
            <a:ext cx="594360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47488" y="1819656"/>
            <a:ext cx="548640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96128" y="1298448"/>
            <a:ext cx="6812280" cy="1517904"/>
          </a:xfrm>
          <a:prstGeom prst="roundRect">
            <a:avLst>
              <a:gd name="adj" fmla="val 5000"/>
            </a:avLst>
          </a:prstGeom>
          <a:solidFill>
            <a:srgbClr val="0C1D26"/>
          </a:solidFill>
          <a:ln w="1905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taAgent / Builder 总控编排器"/>
          <p:cNvSpPr txBox="1"/>
          <p:nvPr/>
        </p:nvSpPr>
        <p:spPr>
          <a:xfrm>
            <a:off x="5760720" y="1444751"/>
            <a:ext cx="648309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100" b="1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MetaAgent / Builder 总控编排器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874519"/>
            <a:ext cx="1143000" cy="457200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规划"/>
          <p:cNvSpPr txBox="1"/>
          <p:nvPr/>
        </p:nvSpPr>
        <p:spPr>
          <a:xfrm>
            <a:off x="5861303" y="1984248"/>
            <a:ext cx="1033271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规划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874519"/>
            <a:ext cx="1143000" cy="457200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分解"/>
          <p:cNvSpPr txBox="1"/>
          <p:nvPr/>
        </p:nvSpPr>
        <p:spPr>
          <a:xfrm>
            <a:off x="7141464" y="1984248"/>
            <a:ext cx="1033271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分解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59" y="1874519"/>
            <a:ext cx="1143000" cy="457200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委派*"/>
          <p:cNvSpPr txBox="1"/>
          <p:nvPr/>
        </p:nvSpPr>
        <p:spPr>
          <a:xfrm>
            <a:off x="8421624" y="1984248"/>
            <a:ext cx="1033271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委派*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19" y="1874519"/>
            <a:ext cx="1143000" cy="457200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监控"/>
          <p:cNvSpPr txBox="1"/>
          <p:nvPr/>
        </p:nvSpPr>
        <p:spPr>
          <a:xfrm>
            <a:off x="9701784" y="1984248"/>
            <a:ext cx="1033271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监控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27080" y="1874519"/>
            <a:ext cx="1143000" cy="457200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汇总"/>
          <p:cNvSpPr txBox="1"/>
          <p:nvPr/>
        </p:nvSpPr>
        <p:spPr>
          <a:xfrm>
            <a:off x="10981944" y="1984248"/>
            <a:ext cx="1033271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汇总</a:t>
            </a:r>
          </a:p>
        </p:txBody>
      </p:sp>
      <p:sp>
        <p:nvSpPr>
          <p:cNvPr id="33" name="共用 Agent 循环 · Website / Game Builder 可独立工作"/>
          <p:cNvSpPr txBox="1"/>
          <p:nvPr/>
        </p:nvSpPr>
        <p:spPr>
          <a:xfrm>
            <a:off x="5806440" y="2468880"/>
            <a:ext cx="6364224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共用 Agent 循环 · Website / Game Builder 可独立工作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017520"/>
            <a:ext cx="3163824" cy="3675887"/>
          </a:xfrm>
          <a:prstGeom prst="roundRect">
            <a:avLst>
              <a:gd name="adj" fmla="val 5000"/>
            </a:avLst>
          </a:prstGeom>
          <a:solidFill>
            <a:srgbClr val="0B241D"/>
          </a:solidFill>
          <a:ln w="1905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执行型 Agent"/>
          <p:cNvSpPr txBox="1"/>
          <p:nvPr/>
        </p:nvSpPr>
        <p:spPr>
          <a:xfrm>
            <a:off x="576072" y="3163824"/>
            <a:ext cx="2834640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100" b="1">
                <a:solidFill>
                  <a:srgbClr val="63E6B5"/>
                </a:solidFill>
                <a:latin typeface="Noto Sans CJK SC"/>
                <a:ea typeface="Noto Sans CJK SC"/>
              </a:defRPr>
            </a:pPr>
            <a:r>
              <a:t>执行型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3639312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752002" y="3717767"/>
            <a:ext cx="70226" cy="90709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" y="3808476"/>
            <a:ext cx="70226" cy="9070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3419" y="3717767"/>
            <a:ext cx="70226" cy="90709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33419" y="3808476"/>
            <a:ext cx="70226" cy="9070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54415" y="3691432"/>
            <a:ext cx="46817" cy="234087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代码 Agent"/>
          <p:cNvSpPr txBox="1"/>
          <p:nvPr/>
        </p:nvSpPr>
        <p:spPr>
          <a:xfrm>
            <a:off x="1124712" y="3749039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代码 Agent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4050791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52002" y="4097060"/>
            <a:ext cx="251643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3645" y="4097060"/>
            <a:ext cx="0" cy="181417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66119" y="4278477"/>
            <a:ext cx="137526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795893" y="4278477"/>
            <a:ext cx="70226" cy="7315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5893" y="4278477"/>
            <a:ext cx="0" cy="7315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52002" y="4278477"/>
            <a:ext cx="43891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52002" y="4097060"/>
            <a:ext cx="0" cy="181417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16376" y="4173138"/>
            <a:ext cx="11704" cy="1170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4897" y="4173138"/>
            <a:ext cx="11704" cy="1170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3419" y="4173138"/>
            <a:ext cx="11704" cy="1170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通用 Agent"/>
          <p:cNvSpPr txBox="1"/>
          <p:nvPr/>
        </p:nvSpPr>
        <p:spPr>
          <a:xfrm>
            <a:off x="1124712" y="4160520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通用 Agent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4462272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6150" y="4499762"/>
            <a:ext cx="263347" cy="263347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9302" y="4499762"/>
            <a:ext cx="117043" cy="263347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749076" y="4631436"/>
            <a:ext cx="257495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8337" y="4564136"/>
            <a:ext cx="198973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78337" y="4698735"/>
            <a:ext cx="198973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浏览器 Agent"/>
          <p:cNvSpPr txBox="1"/>
          <p:nvPr/>
        </p:nvSpPr>
        <p:spPr>
          <a:xfrm>
            <a:off x="1124712" y="4572000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浏览器 Agent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4873752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49076" y="4917094"/>
            <a:ext cx="257495" cy="181416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877824" y="5098511"/>
            <a:ext cx="0" cy="7607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13450" y="5174589"/>
            <a:ext cx="128747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75411" y="5022433"/>
            <a:ext cx="49743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5154" y="4963911"/>
            <a:ext cx="23409" cy="5852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48563" y="4963911"/>
            <a:ext cx="46817" cy="93635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5380" y="5004876"/>
            <a:ext cx="26335" cy="5267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21715" y="5004876"/>
            <a:ext cx="58521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桌面 Agent"/>
          <p:cNvSpPr txBox="1"/>
          <p:nvPr/>
        </p:nvSpPr>
        <p:spPr>
          <a:xfrm>
            <a:off x="1124712" y="4983480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桌面 Agent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" y="5285232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749076" y="5319796"/>
            <a:ext cx="0" cy="263347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9076" y="5583143"/>
            <a:ext cx="263347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04672" y="5460248"/>
            <a:ext cx="0" cy="7315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77824" y="5404652"/>
            <a:ext cx="0" cy="12874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50976" y="5340278"/>
            <a:ext cx="0" cy="19312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监控 Agent"/>
          <p:cNvSpPr txBox="1"/>
          <p:nvPr/>
        </p:nvSpPr>
        <p:spPr>
          <a:xfrm>
            <a:off x="1124712" y="5394960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监控 Agent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792" y="5696712"/>
            <a:ext cx="2743200" cy="3383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877824" y="5728350"/>
            <a:ext cx="117043" cy="4974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977310" y="5778093"/>
            <a:ext cx="17557" cy="13167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877824" y="5909767"/>
            <a:ext cx="99486" cy="9363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778337" y="5909767"/>
            <a:ext cx="99487" cy="9363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760780" y="5778093"/>
            <a:ext cx="17557" cy="13167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60780" y="5728350"/>
            <a:ext cx="117044" cy="4974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9302" y="5854171"/>
            <a:ext cx="46817" cy="46817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66119" y="5819058"/>
            <a:ext cx="76078" cy="8193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审查 Agent"/>
          <p:cNvSpPr txBox="1"/>
          <p:nvPr/>
        </p:nvSpPr>
        <p:spPr>
          <a:xfrm>
            <a:off x="1124712" y="5806440"/>
            <a:ext cx="21488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2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审查 Agent</a:t>
            </a:r>
          </a:p>
        </p:txBody>
      </p:sp>
      <p:sp>
        <p:nvSpPr>
          <p:cNvPr id="89" name="* 按配置和权限启用委派"/>
          <p:cNvSpPr txBox="1"/>
          <p:nvPr/>
        </p:nvSpPr>
        <p:spPr>
          <a:xfrm>
            <a:off x="576072" y="6300216"/>
            <a:ext cx="283464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3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* 按配置和权限启用委派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89120" y="3584448"/>
            <a:ext cx="8961120" cy="2697480"/>
          </a:xfrm>
          <a:prstGeom prst="roundRect">
            <a:avLst>
              <a:gd name="adj" fmla="val 5000"/>
            </a:avLst>
          </a:prstGeom>
          <a:solidFill>
            <a:srgbClr val="0C1D26"/>
          </a:solidFill>
          <a:ln w="1905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gent Runtime 与通信协议"/>
          <p:cNvSpPr txBox="1"/>
          <p:nvPr/>
        </p:nvSpPr>
        <p:spPr>
          <a:xfrm>
            <a:off x="4553712" y="3730752"/>
            <a:ext cx="863193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200" b="1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Agent Runtime 与通信协议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90288" y="4160520"/>
            <a:ext cx="4105656" cy="1417320"/>
          </a:xfrm>
          <a:prstGeom prst="roundRect">
            <a:avLst>
              <a:gd name="adj" fmla="val 4000"/>
            </a:avLst>
          </a:prstGeom>
          <a:solidFill>
            <a:srgbClr val="0D1B18"/>
          </a:solidFill>
          <a:ln w="1270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915400" y="4160520"/>
            <a:ext cx="4215384" cy="1417320"/>
          </a:xfrm>
          <a:prstGeom prst="roundRect">
            <a:avLst>
              <a:gd name="adj" fmla="val 4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untime 进程内核"/>
          <p:cNvSpPr txBox="1"/>
          <p:nvPr/>
        </p:nvSpPr>
        <p:spPr>
          <a:xfrm>
            <a:off x="4727448" y="4270248"/>
            <a:ext cx="3822191" cy="3017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600" b="1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Runtime 进程内核</a:t>
            </a:r>
          </a:p>
        </p:txBody>
      </p:sp>
      <p:sp>
        <p:nvSpPr>
          <p:cNvPr id="95" name="消息与交互语义"/>
          <p:cNvSpPr txBox="1"/>
          <p:nvPr/>
        </p:nvSpPr>
        <p:spPr>
          <a:xfrm>
            <a:off x="9070848" y="4270248"/>
            <a:ext cx="3895344" cy="30175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60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消息与交互语义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788529" y="4735860"/>
            <a:ext cx="18873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977262" y="4735860"/>
            <a:ext cx="0" cy="13606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4874117" y="4871923"/>
            <a:ext cx="10314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4821448" y="4871923"/>
            <a:ext cx="52669" cy="5486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821448" y="4871923"/>
            <a:ext cx="0" cy="5486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4788529" y="4871923"/>
            <a:ext cx="3291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788529" y="4735860"/>
            <a:ext cx="0" cy="13606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4836810" y="4792919"/>
            <a:ext cx="8778" cy="8778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80701" y="4792919"/>
            <a:ext cx="8778" cy="8778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924592" y="4792919"/>
            <a:ext cx="8778" cy="8778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邮箱 / 信号"/>
          <p:cNvSpPr txBox="1"/>
          <p:nvPr/>
        </p:nvSpPr>
        <p:spPr>
          <a:xfrm>
            <a:off x="5102352" y="4718304"/>
            <a:ext cx="1700784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8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邮箱 / 信号</a:t>
            </a:r>
          </a:p>
        </p:txBody>
      </p:sp>
      <p:sp>
        <p:nvSpPr>
          <p:cNvPr id="107" name="Oval 106"/>
          <p:cNvSpPr/>
          <p:nvPr/>
        </p:nvSpPr>
        <p:spPr>
          <a:xfrm>
            <a:off x="6849953" y="4753416"/>
            <a:ext cx="43891" cy="4389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979432" y="4753416"/>
            <a:ext cx="43891" cy="4389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915790" y="4878506"/>
            <a:ext cx="43891" cy="4389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6893844" y="4775362"/>
            <a:ext cx="85588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876288" y="4797308"/>
            <a:ext cx="54864" cy="81198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6948708" y="4797308"/>
            <a:ext cx="46086" cy="81198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创建 / 生命周期"/>
          <p:cNvSpPr txBox="1"/>
          <p:nvPr/>
        </p:nvSpPr>
        <p:spPr>
          <a:xfrm>
            <a:off x="7150608" y="4718304"/>
            <a:ext cx="1700784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8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创建 / 生命周期</a:t>
            </a:r>
          </a:p>
        </p:txBody>
      </p:sp>
      <p:cxnSp>
        <p:nvCxnSpPr>
          <p:cNvPr id="114" name="Connector 113"/>
          <p:cNvCxnSpPr/>
          <p:nvPr/>
        </p:nvCxnSpPr>
        <p:spPr>
          <a:xfrm flipH="1" flipV="1">
            <a:off x="4788529" y="5287426"/>
            <a:ext cx="28530" cy="5925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788529" y="5221589"/>
            <a:ext cx="24141" cy="65837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812670" y="5193060"/>
            <a:ext cx="65836" cy="28529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878506" y="5193060"/>
            <a:ext cx="65837" cy="2633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944343" y="5219395"/>
            <a:ext cx="21946" cy="4608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913619" y="5258897"/>
            <a:ext cx="52670" cy="658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966289" y="5206227"/>
            <a:ext cx="6583" cy="5925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4907036" y="5315955"/>
            <a:ext cx="41696" cy="5267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4839004" y="5368625"/>
            <a:ext cx="68032" cy="4389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4839004" y="5326928"/>
            <a:ext cx="2195" cy="4608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839004" y="5373014"/>
            <a:ext cx="50475" cy="1755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暂停 / 恢复"/>
          <p:cNvSpPr txBox="1"/>
          <p:nvPr/>
        </p:nvSpPr>
        <p:spPr>
          <a:xfrm>
            <a:off x="5102352" y="5175504"/>
            <a:ext cx="1700784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8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暂停 / 恢复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931152" y="5182087"/>
            <a:ext cx="87782" cy="37308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7005767" y="5219395"/>
            <a:ext cx="13167" cy="9875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6931152" y="5318150"/>
            <a:ext cx="74615" cy="7022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6856536" y="5318150"/>
            <a:ext cx="74616" cy="7022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6843369" y="5219395"/>
            <a:ext cx="13167" cy="9875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843369" y="5182087"/>
            <a:ext cx="87783" cy="37308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887260" y="5276453"/>
            <a:ext cx="35113" cy="3511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922373" y="5250119"/>
            <a:ext cx="57059" cy="61447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共享运行预算"/>
          <p:cNvSpPr txBox="1"/>
          <p:nvPr/>
        </p:nvSpPr>
        <p:spPr>
          <a:xfrm>
            <a:off x="7150608" y="5175504"/>
            <a:ext cx="1700784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8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共享运行预算</a:t>
            </a:r>
          </a:p>
        </p:txBody>
      </p:sp>
      <p:sp>
        <p:nvSpPr>
          <p:cNvPr id="135" name="Oval 134"/>
          <p:cNvSpPr/>
          <p:nvPr/>
        </p:nvSpPr>
        <p:spPr>
          <a:xfrm>
            <a:off x="9126809" y="4753416"/>
            <a:ext cx="43891" cy="43891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256288" y="4753416"/>
            <a:ext cx="43891" cy="43891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192646" y="4878506"/>
            <a:ext cx="43891" cy="43891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9170700" y="4775362"/>
            <a:ext cx="85588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153144" y="4797308"/>
            <a:ext cx="54863" cy="8119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9225564" y="4797308"/>
            <a:ext cx="46086" cy="8119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委派 / 回复"/>
          <p:cNvSpPr txBox="1"/>
          <p:nvPr/>
        </p:nvSpPr>
        <p:spPr>
          <a:xfrm>
            <a:off x="9427463" y="4718304"/>
            <a:ext cx="1664208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委派 / 回复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1159703" y="4733665"/>
            <a:ext cx="193121" cy="136062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11256263" y="4869728"/>
            <a:ext cx="0" cy="57059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1207983" y="4926787"/>
            <a:ext cx="96561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1179454" y="4812670"/>
            <a:ext cx="37307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1216761" y="4768778"/>
            <a:ext cx="17557" cy="43892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1234318" y="4768778"/>
            <a:ext cx="35113" cy="70226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1269431" y="4799502"/>
            <a:ext cx="19751" cy="39502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289182" y="4799502"/>
            <a:ext cx="43891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进度 / 控制"/>
          <p:cNvSpPr txBox="1"/>
          <p:nvPr/>
        </p:nvSpPr>
        <p:spPr>
          <a:xfrm>
            <a:off x="11475719" y="4718304"/>
            <a:ext cx="1664208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进度 / 控制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113641" y="5193060"/>
            <a:ext cx="188733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302374" y="5193060"/>
            <a:ext cx="0" cy="136063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9199229" y="5329123"/>
            <a:ext cx="103145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9146560" y="5329123"/>
            <a:ext cx="52669" cy="5486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146560" y="5329123"/>
            <a:ext cx="0" cy="5486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9113641" y="5329123"/>
            <a:ext cx="32919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113641" y="5193060"/>
            <a:ext cx="0" cy="136063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9161922" y="5250119"/>
            <a:ext cx="8778" cy="8778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205813" y="5250119"/>
            <a:ext cx="8778" cy="8778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249704" y="5250119"/>
            <a:ext cx="8778" cy="8778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发布 / 订阅"/>
          <p:cNvSpPr txBox="1"/>
          <p:nvPr/>
        </p:nvSpPr>
        <p:spPr>
          <a:xfrm>
            <a:off x="9427463" y="5175504"/>
            <a:ext cx="1664208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发布 / 订阅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1183843" y="5182087"/>
            <a:ext cx="149230" cy="204094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11212372" y="5236951"/>
            <a:ext cx="87783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1212372" y="5280842"/>
            <a:ext cx="87783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1212372" y="5324734"/>
            <a:ext cx="68032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上报 / 事件"/>
          <p:cNvSpPr txBox="1"/>
          <p:nvPr/>
        </p:nvSpPr>
        <p:spPr>
          <a:xfrm>
            <a:off x="11475719" y="5175504"/>
            <a:ext cx="1664208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上报 / 事件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590288" y="5742432"/>
            <a:ext cx="8540496" cy="338328"/>
          </a:xfrm>
          <a:prstGeom prst="roundRect">
            <a:avLst>
              <a:gd name="adj" fmla="val 10000"/>
            </a:avLst>
          </a:prstGeom>
          <a:solidFill>
            <a:srgbClr val="0D1B18"/>
          </a:solidFill>
          <a:ln w="12700">
            <a:solidFill>
              <a:srgbClr val="385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Agent 循环：ContextAssembler → ModelManager → ToolRouter → 环境观察"/>
          <p:cNvSpPr txBox="1"/>
          <p:nvPr/>
        </p:nvSpPr>
        <p:spPr>
          <a:xfrm>
            <a:off x="4736592" y="5815584"/>
            <a:ext cx="824788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Agent 循环：ContextAssembler → ModelManager → ToolRouter → 环境观察</a:t>
            </a:r>
          </a:p>
        </p:txBody>
      </p:sp>
      <p:sp>
        <p:nvSpPr>
          <p:cNvPr id="169" name="Agent 间通信及生命周期由 Runtime 内核统一管理"/>
          <p:cNvSpPr txBox="1"/>
          <p:nvPr/>
        </p:nvSpPr>
        <p:spPr>
          <a:xfrm>
            <a:off x="5486400" y="6428232"/>
            <a:ext cx="7680960" cy="2468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0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Agent 间通信及生命周期由 Runtime 内核统一管理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6537960" y="2816352"/>
            <a:ext cx="0" cy="374904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5577840" y="3191256"/>
            <a:ext cx="960120" cy="0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5577840" y="3191256"/>
            <a:ext cx="0" cy="393192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034272" y="2816352"/>
            <a:ext cx="0" cy="768096"/>
          </a:xfrm>
          <a:prstGeom prst="line">
            <a:avLst/>
          </a:prstGeom>
          <a:ln w="20320">
            <a:solidFill>
              <a:srgbClr val="82B8D9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1594592" y="2816352"/>
            <a:ext cx="0" cy="374904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1594592" y="3191256"/>
            <a:ext cx="841248" cy="0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2435840" y="3191256"/>
            <a:ext cx="0" cy="393192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575304" y="3803904"/>
            <a:ext cx="374904" cy="0"/>
          </a:xfrm>
          <a:prstGeom prst="line">
            <a:avLst/>
          </a:prstGeom>
          <a:ln w="20320">
            <a:solidFill>
              <a:srgbClr val="82B8D9"/>
            </a:solidFill>
            <a:prstDash val="dash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950208" y="3803904"/>
            <a:ext cx="0" cy="2231136"/>
          </a:xfrm>
          <a:prstGeom prst="line">
            <a:avLst/>
          </a:prstGeom>
          <a:ln w="2032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3575304" y="6035040"/>
            <a:ext cx="374904" cy="0"/>
          </a:xfrm>
          <a:prstGeom prst="line">
            <a:avLst/>
          </a:prstGeom>
          <a:ln w="20320">
            <a:solidFill>
              <a:srgbClr val="82B8D9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950208" y="5047488"/>
            <a:ext cx="43891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任务 / 结果"/>
          <p:cNvSpPr txBox="1"/>
          <p:nvPr/>
        </p:nvSpPr>
        <p:spPr>
          <a:xfrm>
            <a:off x="5760720" y="2916936"/>
            <a:ext cx="204825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00" b="0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任务 / 结果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4036040" y="1298448"/>
            <a:ext cx="7498079" cy="4773168"/>
          </a:xfrm>
          <a:prstGeom prst="roundRect">
            <a:avLst>
              <a:gd name="adj" fmla="val 5000"/>
            </a:avLst>
          </a:prstGeom>
          <a:solidFill>
            <a:srgbClr val="1C192C"/>
          </a:solidFill>
          <a:ln w="1905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自进化引擎 / Self-Evolution Engine"/>
          <p:cNvSpPr txBox="1"/>
          <p:nvPr/>
        </p:nvSpPr>
        <p:spPr>
          <a:xfrm>
            <a:off x="14200632" y="1444751"/>
            <a:ext cx="7168895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20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自进化引擎 / Self-Evolution Engine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5425928" y="1920240"/>
            <a:ext cx="2039112" cy="502920"/>
          </a:xfrm>
          <a:prstGeom prst="roundRect">
            <a:avLst>
              <a:gd name="adj" fmla="val 3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5535656" y="2057400"/>
            <a:ext cx="274320" cy="274320"/>
          </a:xfrm>
          <a:prstGeom prst="ellipse">
            <a:avLst/>
          </a:prstGeom>
          <a:solidFill>
            <a:srgbClr val="1C192C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1"/>
          <p:cNvSpPr txBox="1"/>
          <p:nvPr/>
        </p:nvSpPr>
        <p:spPr>
          <a:xfrm>
            <a:off x="15535656" y="2098548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1</a:t>
            </a:r>
          </a:p>
        </p:txBody>
      </p:sp>
      <p:sp>
        <p:nvSpPr>
          <p:cNvPr id="187" name="发现 / 探测"/>
          <p:cNvSpPr txBox="1"/>
          <p:nvPr/>
        </p:nvSpPr>
        <p:spPr>
          <a:xfrm>
            <a:off x="15892272" y="2103120"/>
            <a:ext cx="1490472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4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发现 / 探测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7062704" y="2743200"/>
            <a:ext cx="1810512" cy="576072"/>
          </a:xfrm>
          <a:prstGeom prst="roundRect">
            <a:avLst>
              <a:gd name="adj" fmla="val 3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7172432" y="2880360"/>
            <a:ext cx="274320" cy="274320"/>
          </a:xfrm>
          <a:prstGeom prst="ellipse">
            <a:avLst/>
          </a:prstGeom>
          <a:solidFill>
            <a:srgbClr val="1C192C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2"/>
          <p:cNvSpPr txBox="1"/>
          <p:nvPr/>
        </p:nvSpPr>
        <p:spPr>
          <a:xfrm>
            <a:off x="17172432" y="2921508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2</a:t>
            </a:r>
          </a:p>
        </p:txBody>
      </p:sp>
      <p:sp>
        <p:nvSpPr>
          <p:cNvPr id="191" name="生成 / 注册"/>
          <p:cNvSpPr txBox="1"/>
          <p:nvPr/>
        </p:nvSpPr>
        <p:spPr>
          <a:xfrm>
            <a:off x="17529048" y="2926080"/>
            <a:ext cx="1261872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4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生成 / 注册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6751808" y="4014215"/>
            <a:ext cx="2121408" cy="576072"/>
          </a:xfrm>
          <a:prstGeom prst="roundRect">
            <a:avLst>
              <a:gd name="adj" fmla="val 3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6861536" y="4151376"/>
            <a:ext cx="274320" cy="274320"/>
          </a:xfrm>
          <a:prstGeom prst="ellipse">
            <a:avLst/>
          </a:prstGeom>
          <a:solidFill>
            <a:srgbClr val="1C192C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3"/>
          <p:cNvSpPr txBox="1"/>
          <p:nvPr/>
        </p:nvSpPr>
        <p:spPr>
          <a:xfrm>
            <a:off x="16861536" y="4192524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3</a:t>
            </a:r>
          </a:p>
        </p:txBody>
      </p:sp>
      <p:sp>
        <p:nvSpPr>
          <p:cNvPr id="195" name="评估"/>
          <p:cNvSpPr txBox="1"/>
          <p:nvPr/>
        </p:nvSpPr>
        <p:spPr>
          <a:xfrm>
            <a:off x="17218152" y="4197096"/>
            <a:ext cx="1572767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4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评估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4612112" y="4014215"/>
            <a:ext cx="1883664" cy="576072"/>
          </a:xfrm>
          <a:prstGeom prst="roundRect">
            <a:avLst>
              <a:gd name="adj" fmla="val 3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4721840" y="4151376"/>
            <a:ext cx="274320" cy="274320"/>
          </a:xfrm>
          <a:prstGeom prst="ellipse">
            <a:avLst/>
          </a:prstGeom>
          <a:solidFill>
            <a:srgbClr val="1C192C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4"/>
          <p:cNvSpPr txBox="1"/>
          <p:nvPr/>
        </p:nvSpPr>
        <p:spPr>
          <a:xfrm>
            <a:off x="14721840" y="4192524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4</a:t>
            </a:r>
          </a:p>
        </p:txBody>
      </p:sp>
      <p:sp>
        <p:nvSpPr>
          <p:cNvPr id="199" name="采纳 / 回滚"/>
          <p:cNvSpPr txBox="1"/>
          <p:nvPr/>
        </p:nvSpPr>
        <p:spPr>
          <a:xfrm>
            <a:off x="15078456" y="4197096"/>
            <a:ext cx="1335024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4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采纳 / 回滚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4310360" y="2743200"/>
            <a:ext cx="2048256" cy="576072"/>
          </a:xfrm>
          <a:prstGeom prst="roundRect">
            <a:avLst>
              <a:gd name="adj" fmla="val 3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420088" y="2880360"/>
            <a:ext cx="274320" cy="274320"/>
          </a:xfrm>
          <a:prstGeom prst="ellipse">
            <a:avLst/>
          </a:prstGeom>
          <a:solidFill>
            <a:srgbClr val="1C192C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5"/>
          <p:cNvSpPr txBox="1"/>
          <p:nvPr/>
        </p:nvSpPr>
        <p:spPr>
          <a:xfrm>
            <a:off x="14420088" y="2921508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5</a:t>
            </a:r>
          </a:p>
        </p:txBody>
      </p:sp>
      <p:sp>
        <p:nvSpPr>
          <p:cNvPr id="203" name="使用 / 再审视"/>
          <p:cNvSpPr txBox="1"/>
          <p:nvPr/>
        </p:nvSpPr>
        <p:spPr>
          <a:xfrm>
            <a:off x="14776704" y="2926080"/>
            <a:ext cx="1499616" cy="26517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14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使用 / 再审视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17465040" y="2167128"/>
            <a:ext cx="502920" cy="0"/>
          </a:xfrm>
          <a:prstGeom prst="line">
            <a:avLst/>
          </a:prstGeom>
          <a:ln w="2032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7967960" y="2167128"/>
            <a:ext cx="0" cy="576072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7967960" y="3319272"/>
            <a:ext cx="0" cy="694943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H="1">
            <a:off x="16495776" y="4297680"/>
            <a:ext cx="256032" cy="0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5069312" y="3319272"/>
            <a:ext cx="0" cy="694943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5316200" y="2167128"/>
            <a:ext cx="0" cy="576072"/>
          </a:xfrm>
          <a:prstGeom prst="line">
            <a:avLst/>
          </a:prstGeom>
          <a:ln w="2032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5316200" y="2167128"/>
            <a:ext cx="109728" cy="0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 flipV="1">
            <a:off x="16466972" y="3301441"/>
            <a:ext cx="65379" cy="13578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6466972" y="3150565"/>
            <a:ext cx="55321" cy="150876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6522293" y="3085185"/>
            <a:ext cx="150876" cy="6538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6673169" y="3085185"/>
            <a:ext cx="150876" cy="60351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6824045" y="3145536"/>
            <a:ext cx="50292" cy="105613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6753636" y="3236061"/>
            <a:ext cx="120701" cy="1508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6874337" y="3115360"/>
            <a:ext cx="15088" cy="135789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>
            <a:off x="16738549" y="3366820"/>
            <a:ext cx="95555" cy="120701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16582643" y="3487521"/>
            <a:ext cx="155906" cy="10059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16582643" y="3391966"/>
            <a:ext cx="5030" cy="10561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6582643" y="3497580"/>
            <a:ext cx="115672" cy="40233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持续迭代"/>
          <p:cNvSpPr txBox="1"/>
          <p:nvPr/>
        </p:nvSpPr>
        <p:spPr>
          <a:xfrm>
            <a:off x="16175736" y="3685032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持续迭代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9202400" y="1965960"/>
            <a:ext cx="2075688" cy="722376"/>
          </a:xfrm>
          <a:prstGeom prst="roundRect">
            <a:avLst>
              <a:gd name="adj" fmla="val 7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19358762" y="2138781"/>
            <a:ext cx="186537" cy="255117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>
            <a:off x="19394424" y="2207361"/>
            <a:ext cx="109728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9394424" y="2262225"/>
            <a:ext cx="109728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9394424" y="2317089"/>
            <a:ext cx="85039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self_evolving_skill"/>
          <p:cNvSpPr txBox="1"/>
          <p:nvPr/>
        </p:nvSpPr>
        <p:spPr>
          <a:xfrm>
            <a:off x="19659600" y="2103120"/>
            <a:ext cx="154533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self_evolving_skill</a:t>
            </a:r>
          </a:p>
        </p:txBody>
      </p:sp>
      <p:sp>
        <p:nvSpPr>
          <p:cNvPr id="229" name="编写 / 改进方法"/>
          <p:cNvSpPr txBox="1"/>
          <p:nvPr/>
        </p:nvSpPr>
        <p:spPr>
          <a:xfrm>
            <a:off x="19312128" y="2432304"/>
            <a:ext cx="185623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4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编写 / 改进方法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9202400" y="3026664"/>
            <a:ext cx="2075688" cy="722376"/>
          </a:xfrm>
          <a:prstGeom prst="roundRect">
            <a:avLst>
              <a:gd name="adj" fmla="val 7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19449288" y="3199485"/>
            <a:ext cx="109728" cy="46635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>
            <a:off x="19542556" y="3246120"/>
            <a:ext cx="16460" cy="12344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H="1">
            <a:off x="19449288" y="3369564"/>
            <a:ext cx="93268" cy="87782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 flipV="1">
            <a:off x="19356019" y="3369564"/>
            <a:ext cx="93269" cy="87782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 flipV="1">
            <a:off x="19339560" y="3246120"/>
            <a:ext cx="16459" cy="12344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9339560" y="3199485"/>
            <a:ext cx="109728" cy="46635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9394424" y="3317443"/>
            <a:ext cx="43891" cy="43891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9438315" y="3284524"/>
            <a:ext cx="71323" cy="7681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Agent 自行评估"/>
          <p:cNvSpPr txBox="1"/>
          <p:nvPr/>
        </p:nvSpPr>
        <p:spPr>
          <a:xfrm>
            <a:off x="19659600" y="3163824"/>
            <a:ext cx="154533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Agent 自行评估</a:t>
            </a:r>
          </a:p>
        </p:txBody>
      </p:sp>
      <p:sp>
        <p:nvSpPr>
          <p:cNvPr id="240" name="基线 + 复用 + 成本"/>
          <p:cNvSpPr txBox="1"/>
          <p:nvPr/>
        </p:nvSpPr>
        <p:spPr>
          <a:xfrm>
            <a:off x="19312128" y="3493008"/>
            <a:ext cx="185623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4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基线 + 复用 + 成本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9202400" y="4087368"/>
            <a:ext cx="2075688" cy="722376"/>
          </a:xfrm>
          <a:prstGeom prst="roundRect">
            <a:avLst>
              <a:gd name="adj" fmla="val 7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9347789" y="4295851"/>
            <a:ext cx="54864" cy="54864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9509638" y="4295851"/>
            <a:ext cx="54864" cy="54864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9430085" y="4452213"/>
            <a:ext cx="54864" cy="54864"/>
          </a:xfrm>
          <a:prstGeom prst="ellipse">
            <a:avLst/>
          </a:prstGeom>
          <a:noFill/>
          <a:ln w="1524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>
            <a:off x="19402653" y="4323283"/>
            <a:ext cx="106985" cy="0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9380708" y="4350715"/>
            <a:ext cx="68580" cy="10149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19471233" y="4350715"/>
            <a:ext cx="57607" cy="101498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adoption_tool"/>
          <p:cNvSpPr txBox="1"/>
          <p:nvPr/>
        </p:nvSpPr>
        <p:spPr>
          <a:xfrm>
            <a:off x="19659600" y="4224528"/>
            <a:ext cx="1545336" cy="21945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0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adoption_tool</a:t>
            </a:r>
          </a:p>
        </p:txBody>
      </p:sp>
      <p:sp>
        <p:nvSpPr>
          <p:cNvPr id="249" name="版本 / 决策 / 使用"/>
          <p:cNvSpPr txBox="1"/>
          <p:nvPr/>
        </p:nvSpPr>
        <p:spPr>
          <a:xfrm>
            <a:off x="19312128" y="4553712"/>
            <a:ext cx="1856232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4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版本 / 决策 / 使用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18873216" y="2880360"/>
            <a:ext cx="164592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9037808" y="2331720"/>
            <a:ext cx="0" cy="548640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9037808" y="2331720"/>
            <a:ext cx="164592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8873216" y="4215384"/>
            <a:ext cx="164592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9037808" y="3392424"/>
            <a:ext cx="0" cy="822960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9037808" y="3392424"/>
            <a:ext cx="164592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5544800" y="4590288"/>
            <a:ext cx="0" cy="338328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5544800" y="4928616"/>
            <a:ext cx="3493008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9037808" y="4453128"/>
            <a:ext cx="0" cy="475488"/>
          </a:xfrm>
          <a:prstGeom prst="line">
            <a:avLst/>
          </a:prstGeom>
          <a:ln w="12700">
            <a:solidFill>
              <a:srgbClr val="B2A4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9037808" y="4453128"/>
            <a:ext cx="164592" cy="0"/>
          </a:xfrm>
          <a:prstGeom prst="line">
            <a:avLst/>
          </a:prstGeom>
          <a:ln w="12700">
            <a:solidFill>
              <a:srgbClr val="B2A4DD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ounded Rectangle 259"/>
          <p:cNvSpPr/>
          <p:nvPr/>
        </p:nvSpPr>
        <p:spPr>
          <a:xfrm>
            <a:off x="14356080" y="516636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0D1B18"/>
          </a:solidFill>
          <a:ln w="12700">
            <a:solidFill>
              <a:srgbClr val="B2A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14612112" y="5256336"/>
            <a:ext cx="102412" cy="43526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14699162" y="5299862"/>
            <a:ext cx="15362" cy="11521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>
            <a:off x="14612112" y="5415076"/>
            <a:ext cx="87050" cy="81931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 flipV="1">
            <a:off x="14525061" y="5415076"/>
            <a:ext cx="87051" cy="81931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14509699" y="5299862"/>
            <a:ext cx="15362" cy="115214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4509699" y="5256336"/>
            <a:ext cx="102413" cy="43526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4560905" y="5366430"/>
            <a:ext cx="40965" cy="40965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4601870" y="5335706"/>
            <a:ext cx="66569" cy="71689"/>
          </a:xfrm>
          <a:prstGeom prst="line">
            <a:avLst/>
          </a:prstGeom>
          <a:ln w="1651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scope + enable_evolving"/>
          <p:cNvSpPr txBox="1"/>
          <p:nvPr/>
        </p:nvSpPr>
        <p:spPr>
          <a:xfrm>
            <a:off x="14831567" y="5294376"/>
            <a:ext cx="237744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5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scope + enable_evolving</a:t>
            </a:r>
          </a:p>
        </p:txBody>
      </p:sp>
      <p:sp>
        <p:nvSpPr>
          <p:cNvPr id="270" name="调用证据绑定确切版本 / 由执行任务的 Agent 自评"/>
          <p:cNvSpPr txBox="1"/>
          <p:nvPr/>
        </p:nvSpPr>
        <p:spPr>
          <a:xfrm>
            <a:off x="17620488" y="5175504"/>
            <a:ext cx="3648456" cy="521207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调用证据绑定确切版本</a:t>
            </a:r>
          </a:p>
          <a:p>
            <a:pPr algn="ctr">
              <a:lnSpc>
                <a:spcPct val="106000"/>
              </a:lnSpc>
              <a:spcAft>
                <a:spcPts val="200"/>
              </a:spcAft>
              <a:defRPr sz="105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由执行任务的 Agent 自评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12408408" y="2029968"/>
            <a:ext cx="1143000" cy="0"/>
          </a:xfrm>
          <a:prstGeom prst="line">
            <a:avLst/>
          </a:prstGeom>
          <a:ln w="2032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3551408" y="2029968"/>
            <a:ext cx="0" cy="402336"/>
          </a:xfrm>
          <a:prstGeom prst="line">
            <a:avLst/>
          </a:prstGeom>
          <a:ln w="20320">
            <a:solidFill>
              <a:srgbClr val="B2A4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3551408" y="2432304"/>
            <a:ext cx="484632" cy="0"/>
          </a:xfrm>
          <a:prstGeom prst="line">
            <a:avLst/>
          </a:prstGeom>
          <a:ln w="2032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真实需求 / / 能力改进机会"/>
          <p:cNvSpPr txBox="1"/>
          <p:nvPr/>
        </p:nvSpPr>
        <p:spPr>
          <a:xfrm>
            <a:off x="12600432" y="1435608"/>
            <a:ext cx="1316736" cy="53949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9" b="0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真实需求 /</a:t>
            </a:r>
          </a:p>
          <a:p>
            <a:pPr algn="ctr">
              <a:lnSpc>
                <a:spcPct val="106000"/>
              </a:lnSpc>
              <a:spcAft>
                <a:spcPts val="200"/>
              </a:spcAft>
              <a:defRPr sz="1019" b="0">
                <a:solidFill>
                  <a:srgbClr val="B2A4DD"/>
                </a:solidFill>
                <a:latin typeface="Noto Sans CJK SC"/>
                <a:ea typeface="Noto Sans CJK SC"/>
              </a:defRPr>
            </a:pPr>
            <a:r>
              <a:t>能力改进机会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3350240" y="4745736"/>
            <a:ext cx="685800" cy="0"/>
          </a:xfrm>
          <a:prstGeom prst="line">
            <a:avLst/>
          </a:prstGeom>
          <a:ln w="20320">
            <a:solidFill>
              <a:srgbClr val="B2A4DD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Rounded Rectangle 275"/>
          <p:cNvSpPr/>
          <p:nvPr/>
        </p:nvSpPr>
        <p:spPr>
          <a:xfrm>
            <a:off x="1051560" y="7178040"/>
            <a:ext cx="12298680" cy="1965960"/>
          </a:xfrm>
          <a:prstGeom prst="roundRect">
            <a:avLst>
              <a:gd name="adj" fmla="val 5000"/>
            </a:avLst>
          </a:prstGeom>
          <a:solidFill>
            <a:srgbClr val="0B241D"/>
          </a:solidFill>
          <a:ln w="1905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可进化能力生态 / Capability Ecosystem"/>
          <p:cNvSpPr txBox="1"/>
          <p:nvPr/>
        </p:nvSpPr>
        <p:spPr>
          <a:xfrm>
            <a:off x="1216151" y="7324344"/>
            <a:ext cx="1196949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100" b="1">
                <a:solidFill>
                  <a:srgbClr val="63E6B5"/>
                </a:solidFill>
                <a:latin typeface="Noto Sans CJK SC"/>
                <a:ea typeface="Noto Sans CJK SC"/>
              </a:defRPr>
            </a:pPr>
            <a:r>
              <a:t>可进化能力生态 / Capability Ecosystem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1225296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791675" y="7956011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96683" y="7956011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895916" y="8154070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>
            <a:off x="1861169" y="7990758"/>
            <a:ext cx="135514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833372" y="8025505"/>
            <a:ext cx="86868" cy="128565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>
            <a:off x="1948037" y="8025505"/>
            <a:ext cx="72969" cy="128565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Agent + Prompt"/>
          <p:cNvSpPr txBox="1"/>
          <p:nvPr/>
        </p:nvSpPr>
        <p:spPr>
          <a:xfrm>
            <a:off x="1261872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Agent + Prompt</a:t>
            </a:r>
          </a:p>
        </p:txBody>
      </p:sp>
      <p:sp>
        <p:nvSpPr>
          <p:cNvPr id="286" name="行为 / 角色"/>
          <p:cNvSpPr txBox="1"/>
          <p:nvPr/>
        </p:nvSpPr>
        <p:spPr>
          <a:xfrm>
            <a:off x="1261872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行为 / 角色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2724912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3305190" y="7910840"/>
            <a:ext cx="236280" cy="323148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>
            <a:off x="3350361" y="7997708"/>
            <a:ext cx="138989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350361" y="8067202"/>
            <a:ext cx="138989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350361" y="8136696"/>
            <a:ext cx="107716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技能 Skill"/>
          <p:cNvSpPr txBox="1"/>
          <p:nvPr/>
        </p:nvSpPr>
        <p:spPr>
          <a:xfrm>
            <a:off x="2761488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技能 Skill</a:t>
            </a:r>
          </a:p>
        </p:txBody>
      </p:sp>
      <p:sp>
        <p:nvSpPr>
          <p:cNvPr id="293" name="方法 / 脚本"/>
          <p:cNvSpPr txBox="1"/>
          <p:nvPr/>
        </p:nvSpPr>
        <p:spPr>
          <a:xfrm>
            <a:off x="2761488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方法 / 脚本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4224528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4773533" y="7942112"/>
            <a:ext cx="291876" cy="257129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>
            <a:off x="4825654" y="8008132"/>
            <a:ext cx="59070" cy="5907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4825654" y="8067202"/>
            <a:ext cx="59070" cy="5907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4929896" y="8126272"/>
            <a:ext cx="86868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工具 Tool"/>
          <p:cNvSpPr txBox="1"/>
          <p:nvPr/>
        </p:nvSpPr>
        <p:spPr>
          <a:xfrm>
            <a:off x="4261104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工具 Tool</a:t>
            </a:r>
          </a:p>
        </p:txBody>
      </p:sp>
      <p:sp>
        <p:nvSpPr>
          <p:cNvPr id="300" name="Bash / 检查"/>
          <p:cNvSpPr txBox="1"/>
          <p:nvPr/>
        </p:nvSpPr>
        <p:spPr>
          <a:xfrm>
            <a:off x="4261104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Bash / 检查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5724144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290523" y="7956011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6495531" y="7956011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6394764" y="8154070"/>
            <a:ext cx="69494" cy="6949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5" name="Connector 304"/>
          <p:cNvCxnSpPr/>
          <p:nvPr/>
        </p:nvCxnSpPr>
        <p:spPr>
          <a:xfrm>
            <a:off x="6360017" y="7990758"/>
            <a:ext cx="135514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6332220" y="8025505"/>
            <a:ext cx="86868" cy="128565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6446885" y="8025505"/>
            <a:ext cx="72969" cy="128565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工作流"/>
          <p:cNvSpPr txBox="1"/>
          <p:nvPr/>
        </p:nvSpPr>
        <p:spPr>
          <a:xfrm>
            <a:off x="5760720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工作流</a:t>
            </a:r>
          </a:p>
        </p:txBody>
      </p:sp>
      <p:sp>
        <p:nvSpPr>
          <p:cNvPr id="309" name="组合 / 执行"/>
          <p:cNvSpPr txBox="1"/>
          <p:nvPr/>
        </p:nvSpPr>
        <p:spPr>
          <a:xfrm>
            <a:off x="5760720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组合 / 执行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7223759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1" name="Connector 310"/>
          <p:cNvCxnSpPr/>
          <p:nvPr/>
        </p:nvCxnSpPr>
        <p:spPr>
          <a:xfrm>
            <a:off x="7918703" y="7910840"/>
            <a:ext cx="152888" cy="7991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071591" y="7990758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>
            <a:off x="7918703" y="8154070"/>
            <a:ext cx="152888" cy="8339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 flipV="1">
            <a:off x="7765816" y="8154070"/>
            <a:ext cx="152887" cy="8339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7765816" y="7990758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7765816" y="7910840"/>
            <a:ext cx="152887" cy="7991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7918703" y="7910840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7918703" y="7990758"/>
            <a:ext cx="152888" cy="8339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7765816" y="7990758"/>
            <a:ext cx="152887" cy="8339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7918703" y="8074152"/>
            <a:ext cx="0" cy="163311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环境"/>
          <p:cNvSpPr txBox="1"/>
          <p:nvPr/>
        </p:nvSpPr>
        <p:spPr>
          <a:xfrm>
            <a:off x="7260336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环境</a:t>
            </a:r>
          </a:p>
        </p:txBody>
      </p:sp>
      <p:sp>
        <p:nvSpPr>
          <p:cNvPr id="322" name="浏览器 / Godot"/>
          <p:cNvSpPr txBox="1"/>
          <p:nvPr/>
        </p:nvSpPr>
        <p:spPr>
          <a:xfrm>
            <a:off x="7260336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浏览器 / Godot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23376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Can 323"/>
          <p:cNvSpPr/>
          <p:nvPr/>
        </p:nvSpPr>
        <p:spPr>
          <a:xfrm>
            <a:off x="9279331" y="7917789"/>
            <a:ext cx="277977" cy="312724"/>
          </a:xfrm>
          <a:prstGeom prst="can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记忆"/>
          <p:cNvSpPr txBox="1"/>
          <p:nvPr/>
        </p:nvSpPr>
        <p:spPr>
          <a:xfrm>
            <a:off x="8759951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记忆</a:t>
            </a:r>
          </a:p>
        </p:txBody>
      </p:sp>
      <p:sp>
        <p:nvSpPr>
          <p:cNvPr id="326" name="笔记 / 检索"/>
          <p:cNvSpPr txBox="1"/>
          <p:nvPr/>
        </p:nvSpPr>
        <p:spPr>
          <a:xfrm>
            <a:off x="8759951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笔记 / 检索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10222992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0761573" y="7917789"/>
            <a:ext cx="312724" cy="31272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848441" y="7917789"/>
            <a:ext cx="138988" cy="312724"/>
          </a:xfrm>
          <a:prstGeom prst="ellipse">
            <a:avLst/>
          </a:prstGeom>
          <a:noFill/>
          <a:ln w="1524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0" name="Connector 329"/>
          <p:cNvCxnSpPr/>
          <p:nvPr/>
        </p:nvCxnSpPr>
        <p:spPr>
          <a:xfrm>
            <a:off x="10765048" y="8074152"/>
            <a:ext cx="305775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799795" y="7994233"/>
            <a:ext cx="236281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799795" y="8154070"/>
            <a:ext cx="236281" cy="0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连接器"/>
          <p:cNvSpPr txBox="1"/>
          <p:nvPr/>
        </p:nvSpPr>
        <p:spPr>
          <a:xfrm>
            <a:off x="10259567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连接器</a:t>
            </a:r>
          </a:p>
        </p:txBody>
      </p:sp>
      <p:sp>
        <p:nvSpPr>
          <p:cNvPr id="334" name="MCP / API"/>
          <p:cNvSpPr txBox="1"/>
          <p:nvPr/>
        </p:nvSpPr>
        <p:spPr>
          <a:xfrm>
            <a:off x="10259567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MCP / API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11722607" y="777240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0D1B18"/>
          </a:solidFill>
          <a:ln w="10160">
            <a:solidFill>
              <a:srgbClr val="63E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12417551" y="7910840"/>
            <a:ext cx="152888" cy="7991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2570439" y="7990758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>
            <a:off x="12417551" y="8154070"/>
            <a:ext cx="152888" cy="8339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 flipV="1">
            <a:off x="12264664" y="8154070"/>
            <a:ext cx="152887" cy="83393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12264664" y="7990758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2264664" y="7910840"/>
            <a:ext cx="152887" cy="79918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2417551" y="7910840"/>
            <a:ext cx="0" cy="163312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2417551" y="7990758"/>
            <a:ext cx="152888" cy="8339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2264664" y="7990758"/>
            <a:ext cx="152887" cy="83394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2417551" y="8074152"/>
            <a:ext cx="0" cy="163311"/>
          </a:xfrm>
          <a:prstGeom prst="line">
            <a:avLst/>
          </a:prstGeom>
          <a:ln w="16510">
            <a:solidFill>
              <a:srgbClr val="63E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插件"/>
          <p:cNvSpPr txBox="1"/>
          <p:nvPr/>
        </p:nvSpPr>
        <p:spPr>
          <a:xfrm>
            <a:off x="11759183" y="8357616"/>
            <a:ext cx="134416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8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插件</a:t>
            </a:r>
          </a:p>
        </p:txBody>
      </p:sp>
      <p:sp>
        <p:nvSpPr>
          <p:cNvPr id="347" name="能力集成"/>
          <p:cNvSpPr txBox="1"/>
          <p:nvPr/>
        </p:nvSpPr>
        <p:spPr>
          <a:xfrm>
            <a:off x="11759183" y="8695944"/>
            <a:ext cx="134416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1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能力集成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1920240" y="6693408"/>
            <a:ext cx="0" cy="484632"/>
          </a:xfrm>
          <a:prstGeom prst="line">
            <a:avLst/>
          </a:prstGeom>
          <a:ln w="2032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937760" y="6281928"/>
            <a:ext cx="0" cy="621792"/>
          </a:xfrm>
          <a:prstGeom prst="line">
            <a:avLst/>
          </a:prstGeom>
          <a:ln w="20320">
            <a:solidFill>
              <a:srgbClr val="63E6B5"/>
            </a:solidFill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937760" y="6903720"/>
            <a:ext cx="0" cy="274320"/>
          </a:xfrm>
          <a:prstGeom prst="line">
            <a:avLst/>
          </a:prstGeom>
          <a:ln w="20320">
            <a:solidFill>
              <a:srgbClr val="63E6B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920240" y="6903720"/>
            <a:ext cx="11731752" cy="0"/>
          </a:xfrm>
          <a:prstGeom prst="line">
            <a:avLst/>
          </a:prstGeom>
          <a:ln w="13970">
            <a:solidFill>
              <a:srgbClr val="63E6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Rounded Rectangle 351"/>
          <p:cNvSpPr/>
          <p:nvPr/>
        </p:nvSpPr>
        <p:spPr>
          <a:xfrm>
            <a:off x="13944600" y="6574536"/>
            <a:ext cx="4434840" cy="2569464"/>
          </a:xfrm>
          <a:prstGeom prst="roundRect">
            <a:avLst>
              <a:gd name="adj" fmla="val 5000"/>
            </a:avLst>
          </a:prstGeom>
          <a:solidFill>
            <a:srgbClr val="252117"/>
          </a:solidFill>
          <a:ln w="1905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扩展管理与版本控制"/>
          <p:cNvSpPr txBox="1"/>
          <p:nvPr/>
        </p:nvSpPr>
        <p:spPr>
          <a:xfrm>
            <a:off x="14109192" y="6720840"/>
            <a:ext cx="4105655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650" b="1">
                <a:solidFill>
                  <a:srgbClr val="F3BD71"/>
                </a:solidFill>
                <a:latin typeface="Noto Sans CJK SC"/>
                <a:ea typeface="Noto Sans CJK SC"/>
              </a:defRPr>
            </a:pPr>
            <a:r>
              <a:t>扩展管理与版本控制</a:t>
            </a:r>
          </a:p>
        </p:txBody>
      </p:sp>
      <p:sp>
        <p:nvSpPr>
          <p:cNvPr id="354" name="Can 353"/>
          <p:cNvSpPr/>
          <p:nvPr/>
        </p:nvSpPr>
        <p:spPr>
          <a:xfrm>
            <a:off x="14198803" y="7433157"/>
            <a:ext cx="424281" cy="477316"/>
          </a:xfrm>
          <a:prstGeom prst="can">
            <a:avLst/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ounded Rectangle 354"/>
          <p:cNvSpPr/>
          <p:nvPr/>
        </p:nvSpPr>
        <p:spPr>
          <a:xfrm>
            <a:off x="14831567" y="7242048"/>
            <a:ext cx="1892807" cy="39319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4979335" y="7339157"/>
            <a:ext cx="58521" cy="58521"/>
          </a:xfrm>
          <a:prstGeom prst="ellipse">
            <a:avLst/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5151973" y="7339157"/>
            <a:ext cx="58521" cy="58521"/>
          </a:xfrm>
          <a:prstGeom prst="ellipse">
            <a:avLst/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5067117" y="7505943"/>
            <a:ext cx="58521" cy="58521"/>
          </a:xfrm>
          <a:prstGeom prst="ellipse">
            <a:avLst/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15037856" y="7368418"/>
            <a:ext cx="114117" cy="0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5014447" y="7397678"/>
            <a:ext cx="73153" cy="108265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H="1">
            <a:off x="15111008" y="7397678"/>
            <a:ext cx="61448" cy="108265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活动版本"/>
          <p:cNvSpPr txBox="1"/>
          <p:nvPr/>
        </p:nvSpPr>
        <p:spPr>
          <a:xfrm>
            <a:off x="15334488" y="7351775"/>
            <a:ext cx="129844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1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活动版本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14831567" y="7772400"/>
            <a:ext cx="1892807" cy="39319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Can 363"/>
          <p:cNvSpPr/>
          <p:nvPr/>
        </p:nvSpPr>
        <p:spPr>
          <a:xfrm>
            <a:off x="14970556" y="7837322"/>
            <a:ext cx="234086" cy="263347"/>
          </a:xfrm>
          <a:prstGeom prst="can">
            <a:avLst/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版本归档"/>
          <p:cNvSpPr txBox="1"/>
          <p:nvPr/>
        </p:nvSpPr>
        <p:spPr>
          <a:xfrm>
            <a:off x="15334488" y="7882127"/>
            <a:ext cx="129844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1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版本归档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14831567" y="8302752"/>
            <a:ext cx="1892807" cy="39319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14991039" y="8361822"/>
            <a:ext cx="198973" cy="272125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15029078" y="8434974"/>
            <a:ext cx="117043" cy="0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5029078" y="8493495"/>
            <a:ext cx="117043" cy="0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5029078" y="8552017"/>
            <a:ext cx="90708" cy="0"/>
          </a:xfrm>
          <a:prstGeom prst="line">
            <a:avLst/>
          </a:prstGeom>
          <a:ln w="1651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manifest.json"/>
          <p:cNvSpPr txBox="1"/>
          <p:nvPr/>
        </p:nvSpPr>
        <p:spPr>
          <a:xfrm>
            <a:off x="15334488" y="8412480"/>
            <a:ext cx="1298448" cy="2560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1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manifest.json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16870680" y="7242048"/>
            <a:ext cx="1307592" cy="5669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准入 / 加载"/>
          <p:cNvSpPr txBox="1"/>
          <p:nvPr/>
        </p:nvSpPr>
        <p:spPr>
          <a:xfrm>
            <a:off x="16925544" y="7351775"/>
            <a:ext cx="1197864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准入 / 加载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16870680" y="8010144"/>
            <a:ext cx="1307592" cy="566928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F3B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回滚 / 卸载"/>
          <p:cNvSpPr txBox="1"/>
          <p:nvPr/>
        </p:nvSpPr>
        <p:spPr>
          <a:xfrm>
            <a:off x="16925544" y="8119871"/>
            <a:ext cx="1197864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回滚 / 卸载</a:t>
            </a:r>
          </a:p>
        </p:txBody>
      </p:sp>
      <p:sp>
        <p:nvSpPr>
          <p:cNvPr id="376" name="extension/ · 位于框架核心之外"/>
          <p:cNvSpPr txBox="1"/>
          <p:nvPr/>
        </p:nvSpPr>
        <p:spPr>
          <a:xfrm>
            <a:off x="14191488" y="8869680"/>
            <a:ext cx="3931920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90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extension/ · 位于框架核心之外</a:t>
            </a:r>
          </a:p>
        </p:txBody>
      </p:sp>
      <p:cxnSp>
        <p:nvCxnSpPr>
          <p:cNvPr id="377" name="Connector 376"/>
          <p:cNvCxnSpPr/>
          <p:nvPr/>
        </p:nvCxnSpPr>
        <p:spPr>
          <a:xfrm>
            <a:off x="16212312" y="6071616"/>
            <a:ext cx="0" cy="502920"/>
          </a:xfrm>
          <a:prstGeom prst="line">
            <a:avLst/>
          </a:prstGeom>
          <a:ln w="20320">
            <a:solidFill>
              <a:srgbClr val="F3BD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21278088" y="4453128"/>
            <a:ext cx="118872" cy="0"/>
          </a:xfrm>
          <a:prstGeom prst="line">
            <a:avLst/>
          </a:prstGeom>
          <a:ln w="2032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21396960" y="4453128"/>
            <a:ext cx="0" cy="1819656"/>
          </a:xfrm>
          <a:prstGeom prst="line">
            <a:avLst/>
          </a:prstGeom>
          <a:ln w="2032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17583912" y="6272784"/>
            <a:ext cx="3813048" cy="0"/>
          </a:xfrm>
          <a:prstGeom prst="line">
            <a:avLst/>
          </a:prstGeom>
          <a:ln w="20320">
            <a:solidFill>
              <a:srgbClr val="F3BD7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7583912" y="6272784"/>
            <a:ext cx="0" cy="301752"/>
          </a:xfrm>
          <a:prstGeom prst="line">
            <a:avLst/>
          </a:prstGeom>
          <a:ln w="20320">
            <a:solidFill>
              <a:srgbClr val="F3BD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>
            <a:off x="13651992" y="7845552"/>
            <a:ext cx="292608" cy="0"/>
          </a:xfrm>
          <a:prstGeom prst="line">
            <a:avLst/>
          </a:prstGeom>
          <a:ln w="16510">
            <a:solidFill>
              <a:srgbClr val="63E6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13651992" y="6903720"/>
            <a:ext cx="0" cy="941832"/>
          </a:xfrm>
          <a:prstGeom prst="line">
            <a:avLst/>
          </a:prstGeom>
          <a:ln w="16510">
            <a:solidFill>
              <a:srgbClr val="63E6B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H="1">
            <a:off x="13350240" y="7845552"/>
            <a:ext cx="301752" cy="0"/>
          </a:xfrm>
          <a:prstGeom prst="line">
            <a:avLst/>
          </a:prstGeom>
          <a:ln w="20320">
            <a:solidFill>
              <a:srgbClr val="63E6B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Rounded Rectangle 384"/>
          <p:cNvSpPr/>
          <p:nvPr/>
        </p:nvSpPr>
        <p:spPr>
          <a:xfrm>
            <a:off x="18973800" y="6574536"/>
            <a:ext cx="2560320" cy="3547872"/>
          </a:xfrm>
          <a:prstGeom prst="roundRect">
            <a:avLst>
              <a:gd name="adj" fmla="val 5000"/>
            </a:avLst>
          </a:prstGeom>
          <a:solidFill>
            <a:srgbClr val="0C1D26"/>
          </a:solidFill>
          <a:ln w="1905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外部世界"/>
          <p:cNvSpPr txBox="1"/>
          <p:nvPr/>
        </p:nvSpPr>
        <p:spPr>
          <a:xfrm>
            <a:off x="19138392" y="6720840"/>
            <a:ext cx="223113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700" b="1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外部世界</a:t>
            </a:r>
          </a:p>
        </p:txBody>
      </p:sp>
      <p:sp>
        <p:nvSpPr>
          <p:cNvPr id="387" name="Rounded Rectangle 386"/>
          <p:cNvSpPr/>
          <p:nvPr/>
        </p:nvSpPr>
        <p:spPr>
          <a:xfrm>
            <a:off x="19147536" y="7178040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9271894" y="7220102"/>
            <a:ext cx="263347" cy="263347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9345046" y="7220102"/>
            <a:ext cx="117043" cy="263347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>
            <a:off x="19274820" y="7351775"/>
            <a:ext cx="25749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9304081" y="7284476"/>
            <a:ext cx="19897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9304081" y="7419075"/>
            <a:ext cx="19897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Web / 网站"/>
          <p:cNvSpPr txBox="1"/>
          <p:nvPr/>
        </p:nvSpPr>
        <p:spPr>
          <a:xfrm>
            <a:off x="19650456" y="7287768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Web / 网站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19147536" y="7616952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9295303" y="7691201"/>
            <a:ext cx="58521" cy="5852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9467941" y="7691201"/>
            <a:ext cx="58521" cy="5852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9383085" y="7857987"/>
            <a:ext cx="58521" cy="58521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8" name="Connector 397"/>
          <p:cNvCxnSpPr/>
          <p:nvPr/>
        </p:nvCxnSpPr>
        <p:spPr>
          <a:xfrm>
            <a:off x="19353824" y="7720462"/>
            <a:ext cx="114117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9330416" y="7749722"/>
            <a:ext cx="73152" cy="10826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H="1">
            <a:off x="19426976" y="7749722"/>
            <a:ext cx="61448" cy="10826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API / 服务"/>
          <p:cNvSpPr txBox="1"/>
          <p:nvPr/>
        </p:nvSpPr>
        <p:spPr>
          <a:xfrm>
            <a:off x="19650456" y="7726679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API / 服务</a:t>
            </a:r>
          </a:p>
        </p:txBody>
      </p:sp>
      <p:sp>
        <p:nvSpPr>
          <p:cNvPr id="402" name="Rounded Rectangle 401"/>
          <p:cNvSpPr/>
          <p:nvPr/>
        </p:nvSpPr>
        <p:spPr>
          <a:xfrm>
            <a:off x="19147536" y="8055863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Can 402"/>
          <p:cNvSpPr/>
          <p:nvPr/>
        </p:nvSpPr>
        <p:spPr>
          <a:xfrm>
            <a:off x="19286524" y="8097926"/>
            <a:ext cx="234086" cy="263347"/>
          </a:xfrm>
          <a:prstGeom prst="can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数据 / 数据库"/>
          <p:cNvSpPr txBox="1"/>
          <p:nvPr/>
        </p:nvSpPr>
        <p:spPr>
          <a:xfrm>
            <a:off x="19650456" y="8165591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数据 / 数据库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19147536" y="8494776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19403568" y="8530986"/>
            <a:ext cx="128747" cy="6730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9532315" y="8598286"/>
            <a:ext cx="0" cy="13752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19403568" y="8735811"/>
            <a:ext cx="128747" cy="7022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H="1" flipV="1">
            <a:off x="19274820" y="8735811"/>
            <a:ext cx="128748" cy="7022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19274820" y="8598286"/>
            <a:ext cx="0" cy="13752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19274820" y="8530986"/>
            <a:ext cx="128748" cy="6730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9403568" y="8530986"/>
            <a:ext cx="0" cy="13752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19403568" y="8598286"/>
            <a:ext cx="128747" cy="7022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9274820" y="8598286"/>
            <a:ext cx="128748" cy="7022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9403568" y="8668511"/>
            <a:ext cx="0" cy="13752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MCP 服务"/>
          <p:cNvSpPr txBox="1"/>
          <p:nvPr/>
        </p:nvSpPr>
        <p:spPr>
          <a:xfrm>
            <a:off x="19650456" y="8604503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MCP 服务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19147536" y="8933688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ounded Rectangle 417"/>
          <p:cNvSpPr/>
          <p:nvPr/>
        </p:nvSpPr>
        <p:spPr>
          <a:xfrm>
            <a:off x="19274820" y="8981602"/>
            <a:ext cx="257495" cy="181416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9" name="Connector 418"/>
          <p:cNvCxnSpPr/>
          <p:nvPr/>
        </p:nvCxnSpPr>
        <p:spPr>
          <a:xfrm>
            <a:off x="19403568" y="9163019"/>
            <a:ext cx="0" cy="76078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9339194" y="9239097"/>
            <a:ext cx="128747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9301155" y="9086941"/>
            <a:ext cx="4974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19350898" y="9028419"/>
            <a:ext cx="23409" cy="5852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9374307" y="9028419"/>
            <a:ext cx="46817" cy="93635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19421124" y="9069384"/>
            <a:ext cx="26335" cy="5267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9447459" y="9069384"/>
            <a:ext cx="58521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浏览器 / Godot"/>
          <p:cNvSpPr txBox="1"/>
          <p:nvPr/>
        </p:nvSpPr>
        <p:spPr>
          <a:xfrm>
            <a:off x="19650456" y="9043415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浏览器 / Godot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19147536" y="9372600"/>
            <a:ext cx="2203704" cy="347472"/>
          </a:xfrm>
          <a:prstGeom prst="roundRect">
            <a:avLst>
              <a:gd name="adj" fmla="val 13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9271894" y="9414662"/>
            <a:ext cx="263347" cy="263347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9345046" y="9414662"/>
            <a:ext cx="117043" cy="263347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>
            <a:off x="19274820" y="9546336"/>
            <a:ext cx="25749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9304081" y="9479036"/>
            <a:ext cx="19897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9304081" y="9613635"/>
            <a:ext cx="198973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已发布产品"/>
          <p:cNvSpPr txBox="1"/>
          <p:nvPr/>
        </p:nvSpPr>
        <p:spPr>
          <a:xfrm>
            <a:off x="19650456" y="9482328"/>
            <a:ext cx="1609344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40" b="0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已发布产品</a:t>
            </a:r>
          </a:p>
        </p:txBody>
      </p:sp>
      <p:cxnSp>
        <p:nvCxnSpPr>
          <p:cNvPr id="434" name="Connector 433"/>
          <p:cNvCxnSpPr/>
          <p:nvPr/>
        </p:nvCxnSpPr>
        <p:spPr>
          <a:xfrm>
            <a:off x="13350240" y="9052560"/>
            <a:ext cx="301752" cy="0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3651992" y="9052560"/>
            <a:ext cx="0" cy="274320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3651992" y="9326880"/>
            <a:ext cx="5020056" cy="0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18672048" y="7342631"/>
            <a:ext cx="0" cy="1984249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8672048" y="7342631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8672048" y="7781544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8672048" y="8229600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8672048" y="8668512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8672048" y="9116568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8672048" y="9326880"/>
            <a:ext cx="0" cy="237744"/>
          </a:xfrm>
          <a:prstGeom prst="line">
            <a:avLst/>
          </a:prstGeom>
          <a:ln w="2032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8672048" y="9564624"/>
            <a:ext cx="301752" cy="0"/>
          </a:xfrm>
          <a:prstGeom prst="line">
            <a:avLst/>
          </a:prstGeom>
          <a:ln w="2032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444"/>
          <p:cNvSpPr/>
          <p:nvPr/>
        </p:nvSpPr>
        <p:spPr>
          <a:xfrm>
            <a:off x="411480" y="9646920"/>
            <a:ext cx="17876520" cy="1901952"/>
          </a:xfrm>
          <a:prstGeom prst="roundRect">
            <a:avLst>
              <a:gd name="adj" fmla="val 5000"/>
            </a:avLst>
          </a:prstGeom>
          <a:solidFill>
            <a:srgbClr val="0C1D26"/>
          </a:solidFill>
          <a:ln w="1905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支撑基础设施 / Supporting Infrastructure"/>
          <p:cNvSpPr txBox="1"/>
          <p:nvPr/>
        </p:nvSpPr>
        <p:spPr>
          <a:xfrm>
            <a:off x="576072" y="9793224"/>
            <a:ext cx="1754733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2100" b="1">
                <a:solidFill>
                  <a:srgbClr val="82B8D9"/>
                </a:solidFill>
                <a:latin typeface="Noto Sans CJK SC"/>
                <a:ea typeface="Noto Sans CJK SC"/>
              </a:defRPr>
            </a:pPr>
            <a:r>
              <a:t>支撑基础设施 / Supporting Infrastructure</a:t>
            </a:r>
          </a:p>
        </p:txBody>
      </p:sp>
      <p:sp>
        <p:nvSpPr>
          <p:cNvPr id="447" name="Rounded Rectangle 446"/>
          <p:cNvSpPr/>
          <p:nvPr/>
        </p:nvSpPr>
        <p:spPr>
          <a:xfrm>
            <a:off x="612648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1298813" y="10372770"/>
            <a:ext cx="273588" cy="192755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1435607" y="10565526"/>
            <a:ext cx="0" cy="8083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367210" y="10646359"/>
            <a:ext cx="136795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326794" y="10484693"/>
            <a:ext cx="52852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1379646" y="10422514"/>
            <a:ext cx="24872" cy="62179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404518" y="10422514"/>
            <a:ext cx="49743" cy="99486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1454261" y="10466039"/>
            <a:ext cx="27981" cy="55961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482242" y="10466039"/>
            <a:ext cx="6217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race / 观测"/>
          <p:cNvSpPr txBox="1"/>
          <p:nvPr/>
        </p:nvSpPr>
        <p:spPr>
          <a:xfrm>
            <a:off x="640080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Trace / 观测</a:t>
            </a:r>
          </a:p>
        </p:txBody>
      </p:sp>
      <p:sp>
        <p:nvSpPr>
          <p:cNvPr id="457" name="事件 / 监控视图"/>
          <p:cNvSpPr txBox="1"/>
          <p:nvPr/>
        </p:nvSpPr>
        <p:spPr>
          <a:xfrm>
            <a:off x="640080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事件 / 监控视图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2377440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ounded Rectangle 458"/>
          <p:cNvSpPr/>
          <p:nvPr/>
        </p:nvSpPr>
        <p:spPr>
          <a:xfrm>
            <a:off x="3097804" y="10360334"/>
            <a:ext cx="211409" cy="289133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>
            <a:off x="3138220" y="1043805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3138220" y="1050023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138220" y="10562417"/>
            <a:ext cx="96378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Trajectory"/>
          <p:cNvSpPr txBox="1"/>
          <p:nvPr/>
        </p:nvSpPr>
        <p:spPr>
          <a:xfrm>
            <a:off x="2404872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Trajectory</a:t>
            </a:r>
          </a:p>
        </p:txBody>
      </p:sp>
      <p:sp>
        <p:nvSpPr>
          <p:cNvPr id="464" name="SFT / RL 导出"/>
          <p:cNvSpPr txBox="1"/>
          <p:nvPr/>
        </p:nvSpPr>
        <p:spPr>
          <a:xfrm>
            <a:off x="2404872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SFT / RL 导出</a:t>
            </a:r>
          </a:p>
        </p:txBody>
      </p:sp>
      <p:sp>
        <p:nvSpPr>
          <p:cNvPr id="465" name="Rounded Rectangle 464"/>
          <p:cNvSpPr/>
          <p:nvPr/>
        </p:nvSpPr>
        <p:spPr>
          <a:xfrm>
            <a:off x="4142232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4850160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5033589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943429" y="10577962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9" name="Connector 468"/>
          <p:cNvCxnSpPr/>
          <p:nvPr/>
        </p:nvCxnSpPr>
        <p:spPr>
          <a:xfrm>
            <a:off x="4912339" y="10431840"/>
            <a:ext cx="121250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4887468" y="10462930"/>
            <a:ext cx="77724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4990063" y="10462930"/>
            <a:ext cx="65288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Registry"/>
          <p:cNvSpPr txBox="1"/>
          <p:nvPr/>
        </p:nvSpPr>
        <p:spPr>
          <a:xfrm>
            <a:off x="4169664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Registry</a:t>
            </a:r>
          </a:p>
        </p:txBody>
      </p:sp>
      <p:sp>
        <p:nvSpPr>
          <p:cNvPr id="473" name="发现 / 注册"/>
          <p:cNvSpPr txBox="1"/>
          <p:nvPr/>
        </p:nvSpPr>
        <p:spPr>
          <a:xfrm>
            <a:off x="4169664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发现 / 注册</a:t>
            </a:r>
          </a:p>
        </p:txBody>
      </p:sp>
      <p:sp>
        <p:nvSpPr>
          <p:cNvPr id="474" name="Rounded Rectangle 473"/>
          <p:cNvSpPr/>
          <p:nvPr/>
        </p:nvSpPr>
        <p:spPr>
          <a:xfrm>
            <a:off x="5907024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ounded Rectangle 474"/>
          <p:cNvSpPr/>
          <p:nvPr/>
        </p:nvSpPr>
        <p:spPr>
          <a:xfrm>
            <a:off x="6627388" y="10360334"/>
            <a:ext cx="211409" cy="289133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>
            <a:off x="6667804" y="1043805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6667804" y="1050023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6667804" y="10562417"/>
            <a:ext cx="96378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任务 / 会话"/>
          <p:cNvSpPr txBox="1"/>
          <p:nvPr/>
        </p:nvSpPr>
        <p:spPr>
          <a:xfrm>
            <a:off x="5934456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任务 / 会话</a:t>
            </a:r>
          </a:p>
        </p:txBody>
      </p:sp>
      <p:sp>
        <p:nvSpPr>
          <p:cNvPr id="480" name="身份 / 工作空间"/>
          <p:cNvSpPr txBox="1"/>
          <p:nvPr/>
        </p:nvSpPr>
        <p:spPr>
          <a:xfrm>
            <a:off x="5934456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身份 / 工作空间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7671816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ounded Rectangle 481"/>
          <p:cNvSpPr/>
          <p:nvPr/>
        </p:nvSpPr>
        <p:spPr>
          <a:xfrm>
            <a:off x="8392180" y="10360334"/>
            <a:ext cx="211409" cy="289133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8432596" y="1043805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8432596" y="10500238"/>
            <a:ext cx="12435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8432596" y="10562417"/>
            <a:ext cx="96378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Plan / Context"/>
          <p:cNvSpPr txBox="1"/>
          <p:nvPr/>
        </p:nvSpPr>
        <p:spPr>
          <a:xfrm>
            <a:off x="7699248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Plan / Context</a:t>
            </a:r>
          </a:p>
        </p:txBody>
      </p:sp>
      <p:sp>
        <p:nvSpPr>
          <p:cNvPr id="487" name="index.md / plan.md / 分层 / 压缩"/>
          <p:cNvSpPr txBox="1"/>
          <p:nvPr/>
        </p:nvSpPr>
        <p:spPr>
          <a:xfrm>
            <a:off x="7699248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index.md / plan.md</a:t>
            </a:r>
          </a:p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分层 / 压缩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9436608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9" name="Connector 488"/>
          <p:cNvCxnSpPr/>
          <p:nvPr/>
        </p:nvCxnSpPr>
        <p:spPr>
          <a:xfrm>
            <a:off x="10259568" y="10360334"/>
            <a:ext cx="124358" cy="5285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H="1">
            <a:off x="10365272" y="10413187"/>
            <a:ext cx="18654" cy="13990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10259568" y="10553090"/>
            <a:ext cx="105704" cy="99487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 flipV="1">
            <a:off x="10153863" y="10553090"/>
            <a:ext cx="105705" cy="99487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H="1" flipV="1">
            <a:off x="10135209" y="10413187"/>
            <a:ext cx="18654" cy="13990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10135209" y="10360334"/>
            <a:ext cx="124359" cy="5285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0197388" y="10494020"/>
            <a:ext cx="49744" cy="49743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0247132" y="10456712"/>
            <a:ext cx="80833" cy="87051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权限 / 约束"/>
          <p:cNvSpPr txBox="1"/>
          <p:nvPr/>
        </p:nvSpPr>
        <p:spPr>
          <a:xfrm>
            <a:off x="9464040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权限 / 约束</a:t>
            </a:r>
          </a:p>
        </p:txBody>
      </p:sp>
      <p:sp>
        <p:nvSpPr>
          <p:cNvPr id="498" name="策略 / 预算"/>
          <p:cNvSpPr txBox="1"/>
          <p:nvPr/>
        </p:nvSpPr>
        <p:spPr>
          <a:xfrm>
            <a:off x="9464040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策略 / 预算</a:t>
            </a:r>
          </a:p>
        </p:txBody>
      </p:sp>
      <p:sp>
        <p:nvSpPr>
          <p:cNvPr id="499" name="Rounded Rectangle 498"/>
          <p:cNvSpPr/>
          <p:nvPr/>
        </p:nvSpPr>
        <p:spPr>
          <a:xfrm>
            <a:off x="11201400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1909328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2092757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12002597" y="10577962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>
            <a:off x="11971507" y="10431840"/>
            <a:ext cx="121250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11946636" y="10462930"/>
            <a:ext cx="77724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H="1">
            <a:off x="12049231" y="10462930"/>
            <a:ext cx="65288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Config / Version"/>
          <p:cNvSpPr txBox="1"/>
          <p:nvPr/>
        </p:nvSpPr>
        <p:spPr>
          <a:xfrm>
            <a:off x="11228832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Config / Version</a:t>
            </a:r>
          </a:p>
        </p:txBody>
      </p:sp>
      <p:sp>
        <p:nvSpPr>
          <p:cNvPr id="507" name="配置 / 版本关系"/>
          <p:cNvSpPr txBox="1"/>
          <p:nvPr/>
        </p:nvSpPr>
        <p:spPr>
          <a:xfrm>
            <a:off x="11228832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配置 / 版本关系</a:t>
            </a:r>
          </a:p>
        </p:txBody>
      </p:sp>
      <p:sp>
        <p:nvSpPr>
          <p:cNvPr id="508" name="Rounded Rectangle 507"/>
          <p:cNvSpPr/>
          <p:nvPr/>
        </p:nvSpPr>
        <p:spPr>
          <a:xfrm>
            <a:off x="12966192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3674120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3857549" y="10400751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3767389" y="10577962"/>
            <a:ext cx="62179" cy="62179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>
            <a:off x="13736299" y="10431840"/>
            <a:ext cx="121250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3711428" y="10462930"/>
            <a:ext cx="77724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>
            <a:off x="13814023" y="10462930"/>
            <a:ext cx="65288" cy="115032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模型管理"/>
          <p:cNvSpPr txBox="1"/>
          <p:nvPr/>
        </p:nvSpPr>
        <p:spPr>
          <a:xfrm>
            <a:off x="12993624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模型管理</a:t>
            </a:r>
          </a:p>
        </p:txBody>
      </p:sp>
      <p:sp>
        <p:nvSpPr>
          <p:cNvPr id="516" name="路由 / 用量"/>
          <p:cNvSpPr txBox="1"/>
          <p:nvPr/>
        </p:nvSpPr>
        <p:spPr>
          <a:xfrm>
            <a:off x="12993624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路由 / 用量</a:t>
            </a:r>
          </a:p>
        </p:txBody>
      </p:sp>
      <p:sp>
        <p:nvSpPr>
          <p:cNvPr id="517" name="Rounded Rectangle 516"/>
          <p:cNvSpPr/>
          <p:nvPr/>
        </p:nvSpPr>
        <p:spPr>
          <a:xfrm>
            <a:off x="14730984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15414040" y="10366552"/>
            <a:ext cx="279806" cy="279806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15491764" y="10366552"/>
            <a:ext cx="124358" cy="279806"/>
          </a:xfrm>
          <a:prstGeom prst="ellipse">
            <a:avLst/>
          </a:prstGeom>
          <a:noFill/>
          <a:ln w="1524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>
            <a:off x="15417149" y="10506456"/>
            <a:ext cx="27358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15448239" y="10434949"/>
            <a:ext cx="21140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15448239" y="10577962"/>
            <a:ext cx="211409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Deploy / Gateway"/>
          <p:cNvSpPr txBox="1"/>
          <p:nvPr/>
        </p:nvSpPr>
        <p:spPr>
          <a:xfrm>
            <a:off x="14758416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Deploy / Gateway</a:t>
            </a:r>
          </a:p>
        </p:txBody>
      </p:sp>
      <p:sp>
        <p:nvSpPr>
          <p:cNvPr id="524" name="URL / 产品访问"/>
          <p:cNvSpPr txBox="1"/>
          <p:nvPr/>
        </p:nvSpPr>
        <p:spPr>
          <a:xfrm>
            <a:off x="14758416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URL / 产品访问</a:t>
            </a:r>
          </a:p>
        </p:txBody>
      </p:sp>
      <p:sp>
        <p:nvSpPr>
          <p:cNvPr id="525" name="Rounded Rectangle 524"/>
          <p:cNvSpPr/>
          <p:nvPr/>
        </p:nvSpPr>
        <p:spPr>
          <a:xfrm>
            <a:off x="16495776" y="10241280"/>
            <a:ext cx="1664208" cy="1106424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0160">
            <a:solidFill>
              <a:srgbClr val="82B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>
            <a:off x="17181941" y="10363443"/>
            <a:ext cx="0" cy="279807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7181941" y="10643250"/>
            <a:ext cx="279807" cy="0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17241012" y="10512673"/>
            <a:ext cx="0" cy="7772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17318736" y="10453603"/>
            <a:ext cx="0" cy="136794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17396460" y="10385206"/>
            <a:ext cx="0" cy="205191"/>
          </a:xfrm>
          <a:prstGeom prst="line">
            <a:avLst/>
          </a:prstGeom>
          <a:ln w="16510">
            <a:solidFill>
              <a:srgbClr val="82B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Benchmark / Data"/>
          <p:cNvSpPr txBox="1"/>
          <p:nvPr/>
        </p:nvSpPr>
        <p:spPr>
          <a:xfrm>
            <a:off x="16523208" y="10780776"/>
            <a:ext cx="1609344" cy="2286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010" b="1">
                <a:solidFill>
                  <a:srgbClr val="ECF7F2"/>
                </a:solidFill>
                <a:latin typeface="Noto Sans CJK SC"/>
                <a:ea typeface="Noto Sans CJK SC"/>
              </a:defRPr>
            </a:pPr>
            <a:r>
              <a:t>Benchmark / Data</a:t>
            </a:r>
          </a:p>
        </p:txBody>
      </p:sp>
      <p:sp>
        <p:nvSpPr>
          <p:cNvPr id="532" name="任务 / 评估"/>
          <p:cNvSpPr txBox="1"/>
          <p:nvPr/>
        </p:nvSpPr>
        <p:spPr>
          <a:xfrm>
            <a:off x="16523208" y="11018520"/>
            <a:ext cx="1609344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86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任务 / 评估</a:t>
            </a:r>
          </a:p>
        </p:txBody>
      </p:sp>
      <p:cxnSp>
        <p:nvCxnSpPr>
          <p:cNvPr id="533" name="Connector 532"/>
          <p:cNvCxnSpPr/>
          <p:nvPr/>
        </p:nvCxnSpPr>
        <p:spPr>
          <a:xfrm flipV="1">
            <a:off x="1920240" y="9144000"/>
            <a:ext cx="0" cy="502920"/>
          </a:xfrm>
          <a:prstGeom prst="line">
            <a:avLst/>
          </a:prstGeom>
          <a:ln w="1270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4928616" y="9144000"/>
            <a:ext cx="0" cy="502920"/>
          </a:xfrm>
          <a:prstGeom prst="line">
            <a:avLst/>
          </a:prstGeom>
          <a:ln w="1270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7936992" y="9144000"/>
            <a:ext cx="0" cy="502920"/>
          </a:xfrm>
          <a:prstGeom prst="line">
            <a:avLst/>
          </a:prstGeom>
          <a:ln w="1270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10945368" y="9144000"/>
            <a:ext cx="0" cy="502920"/>
          </a:xfrm>
          <a:prstGeom prst="line">
            <a:avLst/>
          </a:prstGeom>
          <a:ln w="1270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12810744" y="9144000"/>
            <a:ext cx="0" cy="502920"/>
          </a:xfrm>
          <a:prstGeom prst="line">
            <a:avLst/>
          </a:prstGeom>
          <a:ln w="12700">
            <a:solidFill>
              <a:srgbClr val="63E6B5"/>
            </a:solidFill>
            <a:tailEnd type="triangle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1005840" y="11548872"/>
            <a:ext cx="0" cy="329184"/>
          </a:xfrm>
          <a:prstGeom prst="line">
            <a:avLst/>
          </a:prstGeom>
          <a:ln w="1270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1005840" y="11878056"/>
            <a:ext cx="6455664" cy="0"/>
          </a:xfrm>
          <a:prstGeom prst="line">
            <a:avLst/>
          </a:prstGeom>
          <a:ln w="1270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7461504" y="11548872"/>
            <a:ext cx="0" cy="329184"/>
          </a:xfrm>
          <a:prstGeom prst="line">
            <a:avLst/>
          </a:prstGeom>
          <a:ln w="12700">
            <a:solidFill>
              <a:srgbClr val="82B8D9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1" name="Trace 与持久上下文为后续决策保留可追溯证据"/>
          <p:cNvSpPr txBox="1"/>
          <p:nvPr/>
        </p:nvSpPr>
        <p:spPr>
          <a:xfrm>
            <a:off x="1920240" y="11960352"/>
            <a:ext cx="9784080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100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Trace 与持久上下文为后续决策保留可追溯证据</a:t>
            </a:r>
          </a:p>
        </p:txBody>
      </p:sp>
      <p:cxnSp>
        <p:nvCxnSpPr>
          <p:cNvPr id="542" name="Connector 541"/>
          <p:cNvCxnSpPr/>
          <p:nvPr/>
        </p:nvCxnSpPr>
        <p:spPr>
          <a:xfrm>
            <a:off x="17373600" y="11548872"/>
            <a:ext cx="0" cy="621792"/>
          </a:xfrm>
          <a:prstGeom prst="line">
            <a:avLst/>
          </a:prstGeom>
          <a:ln w="1270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17373600" y="12170664"/>
            <a:ext cx="4398264" cy="0"/>
          </a:xfrm>
          <a:prstGeom prst="line">
            <a:avLst/>
          </a:prstGeom>
          <a:ln w="1270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21771864" y="3383280"/>
            <a:ext cx="0" cy="8787384"/>
          </a:xfrm>
          <a:prstGeom prst="line">
            <a:avLst/>
          </a:prstGeom>
          <a:ln w="12700">
            <a:solidFill>
              <a:srgbClr val="82B8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>
            <a:off x="21534120" y="3383280"/>
            <a:ext cx="237744" cy="0"/>
          </a:xfrm>
          <a:prstGeom prst="line">
            <a:avLst/>
          </a:prstGeom>
          <a:ln w="12700">
            <a:solidFill>
              <a:srgbClr val="82B8D9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Benchmark / 任务检查 → 评估证据"/>
          <p:cNvSpPr txBox="1"/>
          <p:nvPr/>
        </p:nvSpPr>
        <p:spPr>
          <a:xfrm>
            <a:off x="11905488" y="11795760"/>
            <a:ext cx="5138928" cy="2011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980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Benchmark / 任务检查 → 评估证据</a:t>
            </a:r>
          </a:p>
        </p:txBody>
      </p:sp>
      <p:sp>
        <p:nvSpPr>
          <p:cNvPr id="547" name="Rounded Rectangle 546"/>
          <p:cNvSpPr/>
          <p:nvPr/>
        </p:nvSpPr>
        <p:spPr>
          <a:xfrm>
            <a:off x="18973800" y="10451592"/>
            <a:ext cx="2560320" cy="1481328"/>
          </a:xfrm>
          <a:prstGeom prst="roundRect">
            <a:avLst>
              <a:gd name="adj" fmla="val 5000"/>
            </a:avLst>
          </a:prstGeom>
          <a:solidFill>
            <a:srgbClr val="0D1B18"/>
          </a:solidFill>
          <a:ln w="19050">
            <a:solidFill>
              <a:srgbClr val="385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图例"/>
          <p:cNvSpPr txBox="1"/>
          <p:nvPr/>
        </p:nvSpPr>
        <p:spPr>
          <a:xfrm>
            <a:off x="19138392" y="10597896"/>
            <a:ext cx="2231136" cy="34747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  <a:defRPr sz="1350" b="1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图例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19138392" y="11000232"/>
            <a:ext cx="347472" cy="0"/>
          </a:xfrm>
          <a:prstGeom prst="line">
            <a:avLst/>
          </a:prstGeom>
          <a:ln w="13970">
            <a:solidFill>
              <a:srgbClr val="82B8D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任务 / 通信"/>
          <p:cNvSpPr txBox="1"/>
          <p:nvPr/>
        </p:nvSpPr>
        <p:spPr>
          <a:xfrm>
            <a:off x="19586448" y="10945368"/>
            <a:ext cx="1746504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869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任务 / 通信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19138392" y="11173968"/>
            <a:ext cx="347472" cy="0"/>
          </a:xfrm>
          <a:prstGeom prst="line">
            <a:avLst/>
          </a:prstGeom>
          <a:ln w="13970">
            <a:solidFill>
              <a:srgbClr val="63E6B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能力调用"/>
          <p:cNvSpPr txBox="1"/>
          <p:nvPr/>
        </p:nvSpPr>
        <p:spPr>
          <a:xfrm>
            <a:off x="19586448" y="11119104"/>
            <a:ext cx="1746504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869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能力调用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19138392" y="11347704"/>
            <a:ext cx="347472" cy="0"/>
          </a:xfrm>
          <a:prstGeom prst="line">
            <a:avLst/>
          </a:prstGeom>
          <a:ln w="13970">
            <a:solidFill>
              <a:srgbClr val="B2A4D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进化 / 采纳"/>
          <p:cNvSpPr txBox="1"/>
          <p:nvPr/>
        </p:nvSpPr>
        <p:spPr>
          <a:xfrm>
            <a:off x="19586448" y="11292840"/>
            <a:ext cx="1746504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869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进化 / 采纳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19138392" y="11521440"/>
            <a:ext cx="347472" cy="0"/>
          </a:xfrm>
          <a:prstGeom prst="line">
            <a:avLst/>
          </a:prstGeom>
          <a:ln w="13970">
            <a:solidFill>
              <a:srgbClr val="F3BD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扩展生命周期"/>
          <p:cNvSpPr txBox="1"/>
          <p:nvPr/>
        </p:nvSpPr>
        <p:spPr>
          <a:xfrm>
            <a:off x="19586448" y="11466576"/>
            <a:ext cx="1746504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869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扩展生命周期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19138392" y="11695176"/>
            <a:ext cx="347472" cy="0"/>
          </a:xfrm>
          <a:prstGeom prst="line">
            <a:avLst/>
          </a:prstGeom>
          <a:ln w="13970">
            <a:solidFill>
              <a:srgbClr val="82B8D9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8" name="证据 / 反馈"/>
          <p:cNvSpPr txBox="1"/>
          <p:nvPr/>
        </p:nvSpPr>
        <p:spPr>
          <a:xfrm>
            <a:off x="19586448" y="11640312"/>
            <a:ext cx="1746504" cy="1828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  <a:defRPr sz="869" b="0">
                <a:solidFill>
                  <a:srgbClr val="AEC4BA"/>
                </a:solidFill>
                <a:latin typeface="Noto Sans CJK SC"/>
                <a:ea typeface="Noto Sans CJK SC"/>
              </a:defRPr>
            </a:pPr>
            <a:r>
              <a:t>证据 / 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自进化 Agent System 架构图</dc:title>
  <dc:subject>Task orchestration, runtime communication, capability ecosystem and self-evolution</dc:subject>
  <dc:creator>AgentEvolver contributors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